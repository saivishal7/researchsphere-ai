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0" r:id="rId13"/>
    <p:sldId id="271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071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188720"/>
            <a:ext cx="1188720" cy="73152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778240" y="1188720"/>
            <a:ext cx="640080" cy="118872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241280" y="1920240"/>
            <a:ext cx="365760" cy="128016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377440"/>
            <a:ext cx="1463040" cy="82296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144000" y="3200400"/>
            <a:ext cx="1097280" cy="82296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0" y="3200400"/>
            <a:ext cx="457200" cy="128016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8595360" y="4023360"/>
            <a:ext cx="548640" cy="91440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36024" y="1106424"/>
            <a:ext cx="164592" cy="164592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10" name="Shape 8"/>
          <p:cNvSpPr/>
          <p:nvPr/>
        </p:nvSpPr>
        <p:spPr>
          <a:xfrm>
            <a:off x="10524744" y="1837944"/>
            <a:ext cx="164592" cy="164592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11" name="Shape 9"/>
          <p:cNvSpPr/>
          <p:nvPr/>
        </p:nvSpPr>
        <p:spPr>
          <a:xfrm>
            <a:off x="8695944" y="2295144"/>
            <a:ext cx="164592" cy="164592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58984" y="3118104"/>
            <a:ext cx="164592" cy="16459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Shape 11"/>
          <p:cNvSpPr/>
          <p:nvPr/>
        </p:nvSpPr>
        <p:spPr>
          <a:xfrm>
            <a:off x="9061704" y="3941064"/>
            <a:ext cx="164592" cy="164592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16184" y="4398264"/>
            <a:ext cx="164592" cy="164592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15" name="Shape 13"/>
          <p:cNvSpPr/>
          <p:nvPr/>
        </p:nvSpPr>
        <p:spPr>
          <a:xfrm>
            <a:off x="8513064" y="4855464"/>
            <a:ext cx="164592" cy="164592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2860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SPHERE AI,</a:t>
            </a:r>
            <a:endParaRPr lang="en-US" sz="5400" dirty="0"/>
          </a:p>
        </p:txBody>
      </p:sp>
      <p:sp>
        <p:nvSpPr>
          <p:cNvPr id="17" name="Shape 15"/>
          <p:cNvSpPr/>
          <p:nvPr/>
        </p:nvSpPr>
        <p:spPr>
          <a:xfrm>
            <a:off x="868680" y="3200400"/>
            <a:ext cx="1280160" cy="411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37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Research Matching Agent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LangGraph-powered, multi-agent terminal system connecting students and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to the right people, projects, and research directions.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NATIONAL-LEVEL AI HACKATHON — FINAL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RESEARCH SPHERE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73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discover faculty matching their interests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availability is invisible until they reach out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found via word-of-mouth, not real expertise match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current research trends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645920"/>
            <a:ext cx="502920" cy="50292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1673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fast-moving research trends is entirely manual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in-department collaborator is informal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view of missing research domains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to students/collaborators is untracked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ResearchCompass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 err="1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ResearchSphere</a:t>
            </a:r>
            <a:r>
              <a:rPr lang="en-US" sz="14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</a:t>
            </a: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terminal-based, LangGraph-powered multi-agent assistant. A natural-language question is routed to the right specialist agent, grounded in a real faculty knowledge base.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852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1729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discovery mode, professors in research-intelligence mode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8130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1330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classifies intent → agent pipeline runs → human confirms outgoing email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773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509320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student-faculty matching and live trend/gap intelligence for professors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371600"/>
            <a:ext cx="4937760" cy="4663440"/>
          </a:xfrm>
          <a:prstGeom prst="roundRect">
            <a:avLst>
              <a:gd name="adj" fmla="val 1569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Modes, One Agent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040880" y="2148840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2624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4206240"/>
            <a:ext cx="457200" cy="4572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2377440"/>
            <a:ext cx="777240" cy="0"/>
          </a:xfrm>
          <a:prstGeom prst="line">
            <a:avLst/>
          </a:prstGeom>
          <a:noFill/>
          <a:ln w="2857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35240" y="4434840"/>
            <a:ext cx="777240" cy="0"/>
          </a:xfrm>
          <a:prstGeom prst="line">
            <a:avLst/>
          </a:prstGeom>
          <a:noFill/>
          <a:ln w="2857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03920" y="306324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12294B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32461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ResearchSphere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195560" y="2377440"/>
            <a:ext cx="777240" cy="0"/>
          </a:xfrm>
          <a:prstGeom prst="line">
            <a:avLst/>
          </a:prstGeom>
          <a:noFill/>
          <a:ln w="28575">
            <a:solidFill>
              <a:srgbClr val="12294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95560" y="4434840"/>
            <a:ext cx="777240" cy="0"/>
          </a:xfrm>
          <a:prstGeom prst="line">
            <a:avLst/>
          </a:prstGeom>
          <a:noFill/>
          <a:ln w="28575">
            <a:solidFill>
              <a:srgbClr val="12294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1018520" y="2148840"/>
            <a:ext cx="457200" cy="457200"/>
          </a:xfrm>
          <a:prstGeom prst="ellipse">
            <a:avLst/>
          </a:prstGeom>
          <a:solidFill>
            <a:srgbClr val="1D8A5A"/>
          </a:solidFill>
          <a:ln/>
        </p:spPr>
      </p:sp>
      <p:sp>
        <p:nvSpPr>
          <p:cNvPr id="32" name="Text 30"/>
          <p:cNvSpPr/>
          <p:nvPr/>
        </p:nvSpPr>
        <p:spPr>
          <a:xfrm>
            <a:off x="1101852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744200" y="2624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Match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1018520" y="4206240"/>
            <a:ext cx="457200" cy="457200"/>
          </a:xfrm>
          <a:prstGeom prst="ellipse">
            <a:avLst/>
          </a:prstGeom>
          <a:solidFill>
            <a:srgbClr val="1D8A5A"/>
          </a:solidFill>
          <a:ln/>
        </p:spPr>
      </p:sp>
      <p:sp>
        <p:nvSpPr>
          <p:cNvPr id="35" name="Text 33"/>
          <p:cNvSpPr/>
          <p:nvPr/>
        </p:nvSpPr>
        <p:spPr>
          <a:xfrm>
            <a:off x="1101852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744200" y="4681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ResearchSphere</a:t>
            </a: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508760"/>
            <a:ext cx="9601200" cy="9144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9050">
            <a:solidFill>
              <a:srgbClr val="2F6FED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737360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161848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Layer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19842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 CLI + Rich terminal rendering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2423160"/>
            <a:ext cx="0" cy="201168"/>
          </a:xfrm>
          <a:prstGeom prst="line">
            <a:avLst/>
          </a:prstGeom>
          <a:noFill/>
          <a:ln w="28575">
            <a:solidFill>
              <a:srgbClr val="8FA6C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280160" y="2624328"/>
            <a:ext cx="9601200" cy="9144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9050">
            <a:solidFill>
              <a:srgbClr val="12294B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08760" y="2852928"/>
            <a:ext cx="457200" cy="4572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94560" y="273405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94560" y="309981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 — router, mode, retrieval, reasoning agents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3538728"/>
            <a:ext cx="0" cy="201168"/>
          </a:xfrm>
          <a:prstGeom prst="line">
            <a:avLst/>
          </a:prstGeom>
          <a:noFill/>
          <a:ln w="28575">
            <a:solidFill>
              <a:srgbClr val="8FA6C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280160" y="3739896"/>
            <a:ext cx="9601200" cy="9144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9050">
            <a:solidFill>
              <a:srgbClr val="12294B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508760" y="3968496"/>
            <a:ext cx="457200" cy="4572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18" name="Text 16"/>
          <p:cNvSpPr/>
          <p:nvPr/>
        </p:nvSpPr>
        <p:spPr>
          <a:xfrm>
            <a:off x="150876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384962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94560" y="421538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Tavily · Semantic Scholar · SMTP · SQLite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4654296"/>
            <a:ext cx="0" cy="201168"/>
          </a:xfrm>
          <a:prstGeom prst="line">
            <a:avLst/>
          </a:prstGeom>
          <a:noFill/>
          <a:ln w="28575">
            <a:solidFill>
              <a:srgbClr val="8FA6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280160" y="4855464"/>
            <a:ext cx="9601200" cy="9144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9050">
            <a:solidFill>
              <a:srgbClr val="1D8A5A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508760" y="5084064"/>
            <a:ext cx="457200" cy="457200"/>
          </a:xfrm>
          <a:prstGeom prst="ellipse">
            <a:avLst/>
          </a:prstGeom>
          <a:solidFill>
            <a:srgbClr val="1D8A5A"/>
          </a:solidFill>
          <a:ln/>
        </p:spPr>
      </p:sp>
      <p:sp>
        <p:nvSpPr>
          <p:cNvPr id="24" name="Text 22"/>
          <p:cNvSpPr/>
          <p:nvPr/>
        </p:nvSpPr>
        <p:spPr>
          <a:xfrm>
            <a:off x="150876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194560" y="49651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194560" y="533095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Pydantic-validated faculty profiles → embedded documents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ResearchSphere</a:t>
            </a: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949440" cy="530352"/>
          </a:xfrm>
          <a:prstGeom prst="roundRect">
            <a:avLst>
              <a:gd name="adj" fmla="val 10345"/>
            </a:avLst>
          </a:prstGeom>
          <a:solidFill>
            <a:srgbClr val="EAF1FB"/>
          </a:solidFill>
          <a:ln w="15875">
            <a:solidFill>
              <a:srgbClr val="2F6F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23360" y="1947672"/>
            <a:ext cx="0" cy="146304"/>
          </a:xfrm>
          <a:prstGeom prst="line">
            <a:avLst/>
          </a:prstGeom>
          <a:noFill/>
          <a:ln w="28575">
            <a:solidFill>
              <a:srgbClr val="8FA6C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8640" y="2093976"/>
            <a:ext cx="6949440" cy="530352"/>
          </a:xfrm>
          <a:prstGeom prst="roundRect">
            <a:avLst>
              <a:gd name="adj" fmla="val 10345"/>
            </a:avLst>
          </a:prstGeom>
          <a:solidFill>
            <a:srgbClr val="EAF1FB"/>
          </a:solidFill>
          <a:ln w="15875">
            <a:solidFill>
              <a:srgbClr val="122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93976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 (intent classification)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2624328"/>
            <a:ext cx="0" cy="146304"/>
          </a:xfrm>
          <a:prstGeom prst="line">
            <a:avLst/>
          </a:prstGeom>
          <a:noFill/>
          <a:ln w="28575">
            <a:solidFill>
              <a:srgbClr val="8FA6C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770632"/>
            <a:ext cx="6949440" cy="530352"/>
          </a:xfrm>
          <a:prstGeom prst="roundRect">
            <a:avLst>
              <a:gd name="adj" fmla="val 10345"/>
            </a:avLst>
          </a:prstGeom>
          <a:solidFill>
            <a:srgbClr val="EAF1FB"/>
          </a:solidFill>
          <a:ln w="15875">
            <a:solidFill>
              <a:srgbClr val="1229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7063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Agent  /  Professor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3300984"/>
            <a:ext cx="0" cy="146304"/>
          </a:xfrm>
          <a:prstGeom prst="line">
            <a:avLst/>
          </a:prstGeom>
          <a:noFill/>
          <a:ln w="28575">
            <a:solidFill>
              <a:srgbClr val="8FA6C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447288"/>
            <a:ext cx="6949440" cy="530352"/>
          </a:xfrm>
          <a:prstGeom prst="roundRect">
            <a:avLst>
              <a:gd name="adj" fmla="val 10345"/>
            </a:avLst>
          </a:prstGeom>
          <a:solidFill>
            <a:srgbClr val="EAF1FB"/>
          </a:solidFill>
          <a:ln w="15875">
            <a:solidFill>
              <a:srgbClr val="1229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47288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 — RAG over ChromaDB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3977640"/>
            <a:ext cx="0" cy="146304"/>
          </a:xfrm>
          <a:prstGeom prst="line">
            <a:avLst/>
          </a:prstGeom>
          <a:noFill/>
          <a:ln w="28575">
            <a:solidFill>
              <a:srgbClr val="8FA6C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123944"/>
            <a:ext cx="6949440" cy="530352"/>
          </a:xfrm>
          <a:prstGeom prst="roundRect">
            <a:avLst>
              <a:gd name="adj" fmla="val 10345"/>
            </a:avLst>
          </a:prstGeom>
          <a:solidFill>
            <a:srgbClr val="EAF1FB"/>
          </a:solidFill>
          <a:ln w="15875">
            <a:solidFill>
              <a:srgbClr val="1229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23944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→ Collaboration → Gap → Project (conditional)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4654296"/>
            <a:ext cx="0" cy="146304"/>
          </a:xfrm>
          <a:prstGeom prst="line">
            <a:avLst/>
          </a:prstGeom>
          <a:noFill/>
          <a:ln w="28575">
            <a:solidFill>
              <a:srgbClr val="8FA6C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4800600"/>
            <a:ext cx="6949440" cy="530352"/>
          </a:xfrm>
          <a:prstGeom prst="roundRect">
            <a:avLst>
              <a:gd name="adj" fmla="val 10345"/>
            </a:avLst>
          </a:prstGeom>
          <a:solidFill>
            <a:srgbClr val="FBF3E4"/>
          </a:solidFill>
          <a:ln w="15875">
            <a:solidFill>
              <a:srgbClr val="B977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0060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 (human-in-the-loop gate)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23360" y="5330952"/>
            <a:ext cx="0" cy="146304"/>
          </a:xfrm>
          <a:prstGeom prst="line">
            <a:avLst/>
          </a:prstGeom>
          <a:noFill/>
          <a:ln w="28575">
            <a:solidFill>
              <a:srgbClr val="8FA6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5477256"/>
            <a:ext cx="6949440" cy="530352"/>
          </a:xfrm>
          <a:prstGeom prst="roundRect">
            <a:avLst>
              <a:gd name="adj" fmla="val 10345"/>
            </a:avLst>
          </a:prstGeom>
          <a:solidFill>
            <a:srgbClr val="E9F7EF"/>
          </a:solidFill>
          <a:ln w="15875">
            <a:solidFill>
              <a:srgbClr val="1D8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477256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Node  /  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18120" y="1417320"/>
            <a:ext cx="3794760" cy="4663440"/>
          </a:xfrm>
          <a:prstGeom prst="roundRect">
            <a:avLst>
              <a:gd name="adj" fmla="val 1928"/>
            </a:avLst>
          </a:prstGeom>
          <a:solidFill>
            <a:srgbClr val="12294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92440" y="1627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Properties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09244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92440" y="2468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checkpointer keyed by thread_id persists state across turns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244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execution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92440" y="3657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Trend/Collaboration/Gap/Project nodes fire only when intent requires them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244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8463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interrupt_before=["email_node"] pauses execution before any send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ResearchSphere</a:t>
            </a: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528" y="17373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7968" y="18288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Faculty Profiles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(Pydantic-validated)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07896" y="2354580"/>
            <a:ext cx="219456" cy="0"/>
          </a:xfrm>
          <a:prstGeom prst="line">
            <a:avLst/>
          </a:prstGeom>
          <a:noFill/>
          <a:ln w="2857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5640" y="17373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37080" y="18288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to Documents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(.txt files)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47008" y="2354580"/>
            <a:ext cx="219456" cy="0"/>
          </a:xfrm>
          <a:prstGeom prst="line">
            <a:avLst/>
          </a:prstGeom>
          <a:noFill/>
          <a:ln w="2857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84752" y="17373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76192" y="18288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(Sentence-Transformers)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6120" y="2354580"/>
            <a:ext cx="219456" cy="0"/>
          </a:xfrm>
          <a:prstGeom prst="line">
            <a:avLst/>
          </a:prstGeom>
          <a:noFill/>
          <a:ln w="2857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23864" y="17373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FBF3E4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15304" y="18288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(persistent vector store)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25232" y="2354580"/>
            <a:ext cx="219456" cy="0"/>
          </a:xfrm>
          <a:prstGeom prst="line">
            <a:avLst/>
          </a:prstGeom>
          <a:noFill/>
          <a:ln w="2857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62976" y="17373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54416" y="18288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(cosine similarity, top-K)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64344" y="2354580"/>
            <a:ext cx="219456" cy="0"/>
          </a:xfrm>
          <a:prstGeom prst="line">
            <a:avLst/>
          </a:prstGeom>
          <a:noFill/>
          <a:ln w="28575">
            <a:solidFill>
              <a:srgbClr val="2F6FE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302088" y="173736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393528" y="18288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reason, workload)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Retrieval Modes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" y="4206240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works on NLP?” → top-K semantically similar faculty, ranked by cosine similarity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206240"/>
            <a:ext cx="411480" cy="41148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Lookup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4617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Dr. Rao” → exact profile match, full verified details returned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ResearchSphere</a:t>
            </a: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94564" y="15544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7504" y="181051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1057504" y="17922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6004" y="27249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6004" y="32186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07996" y="15544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0936" y="181051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9"/>
          <p:cNvSpPr/>
          <p:nvPr/>
        </p:nvSpPr>
        <p:spPr>
          <a:xfrm>
            <a:off x="3370936" y="17922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99436" y="27249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99436" y="32186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1428" y="15544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84368" y="181051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6" name="Text 14"/>
          <p:cNvSpPr/>
          <p:nvPr/>
        </p:nvSpPr>
        <p:spPr>
          <a:xfrm>
            <a:off x="5684368" y="17922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12868" y="27249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12868" y="32186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34860" y="15544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97800" y="181051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1" name="Text 19"/>
          <p:cNvSpPr/>
          <p:nvPr/>
        </p:nvSpPr>
        <p:spPr>
          <a:xfrm>
            <a:off x="7997800" y="17922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26300" y="27249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26300" y="32186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48292" y="155448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311232" y="181051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6" name="Text 24"/>
          <p:cNvSpPr/>
          <p:nvPr/>
        </p:nvSpPr>
        <p:spPr>
          <a:xfrm>
            <a:off x="10311232" y="179222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39732" y="272491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39732" y="32186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4564" y="40233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7504" y="427939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1" name="Text 29"/>
          <p:cNvSpPr/>
          <p:nvPr/>
        </p:nvSpPr>
        <p:spPr>
          <a:xfrm>
            <a:off x="1057504" y="42611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6004" y="5193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6004" y="56875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UI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07996" y="40233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70936" y="427939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6" name="Text 34"/>
          <p:cNvSpPr/>
          <p:nvPr/>
        </p:nvSpPr>
        <p:spPr>
          <a:xfrm>
            <a:off x="3370936" y="42611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799436" y="5193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99436" y="56875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logging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1428" y="40233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84368" y="427939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1" name="Text 39"/>
          <p:cNvSpPr/>
          <p:nvPr/>
        </p:nvSpPr>
        <p:spPr>
          <a:xfrm>
            <a:off x="5684368" y="42611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112868" y="5193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12868" y="56875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34860" y="40233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997800" y="427939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46" name="Text 44"/>
          <p:cNvSpPr/>
          <p:nvPr/>
        </p:nvSpPr>
        <p:spPr>
          <a:xfrm>
            <a:off x="7997800" y="42611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426300" y="5193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426300" y="56875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data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648292" y="4023360"/>
            <a:ext cx="2148840" cy="2148840"/>
          </a:xfrm>
          <a:prstGeom prst="roundRect">
            <a:avLst>
              <a:gd name="adj" fmla="val 3404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0311232" y="4279392"/>
            <a:ext cx="822960" cy="82296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1" name="Text 49"/>
          <p:cNvSpPr/>
          <p:nvPr/>
        </p:nvSpPr>
        <p:spPr>
          <a:xfrm>
            <a:off x="10311232" y="42611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9739732" y="51937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739732" y="56875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framework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ResearchSphere</a:t>
            </a: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0432" y="1417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70432" y="17830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discovery, profile lookup, project matching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457200" cy="4572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24414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Mode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70432" y="28072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intelligence, collaborators, gap analysis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93592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34655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70432" y="38313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16 faculty profiles via ChromaDB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448970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Suggestions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70432" y="48554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faculty expertise, trends, and gaps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641848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55138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70432" y="58795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web search + Semantic Scholar citations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545336"/>
            <a:ext cx="457200" cy="4572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93992" y="1417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Analysis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93992" y="17830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domains vs. faculty coverage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569464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93992" y="244144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Engine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93992" y="280720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Research-area overlap scoring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593592"/>
            <a:ext cx="457200" cy="4572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93992" y="346557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Human-in-Loop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93992" y="383133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shown; sent only after confirmation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4617720"/>
            <a:ext cx="457200" cy="45720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93992" y="448970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793992" y="48554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runnable with zero API keys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5641848"/>
            <a:ext cx="457200" cy="45720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41" name="Text 39"/>
          <p:cNvSpPr/>
          <p:nvPr/>
        </p:nvSpPr>
        <p:spPr>
          <a:xfrm>
            <a:off x="617220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93992" y="55138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793992" y="58795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conversational follow-ups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ResearchSphere</a:t>
            </a: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+ SEMANTIC SCHOLAR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APIs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3728" y="155448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8048" y="1828800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838048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048" y="2514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Tavily Web 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048" y="301752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advanced-depth web search summarized into current research trends. Degrades to a labelled offline placeholder without a key — never fabricated results.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55448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1828800"/>
            <a:ext cx="548640" cy="54864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1" name="Text 9"/>
          <p:cNvSpPr/>
          <p:nvPr/>
        </p:nvSpPr>
        <p:spPr>
          <a:xfrm>
            <a:off x="6553048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3048" y="2514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Scholar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048" y="301752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Graph API returns top cited recent papers per topic, ranked by citation count. Works without a key; a key simply raises rate limits.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75808" y="2743200"/>
            <a:ext cx="640080" cy="64008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15" name="Text 13"/>
          <p:cNvSpPr/>
          <p:nvPr/>
        </p:nvSpPr>
        <p:spPr>
          <a:xfrm>
            <a:off x="5775808" y="2724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live data matters:  </a:t>
            </a: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faculty database is a fixed snapshot. Live web and citation data keep trend answers anchored to the current frontier of a field.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APP.PY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Walkthrough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Session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works on NLP?” → ranked faculty matches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Dr Rao” → full profile lookup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9443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“Suggest projects” → mentor-matched project ideas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347472" cy="347472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5112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another” → session memory re-runs topic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142232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 Session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1828800"/>
            <a:ext cx="347472" cy="347472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66560" y="1810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trending in AI?” → Tavily + Semantic Scholar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2395728"/>
            <a:ext cx="347472" cy="347472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2377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should collaborate with Dr Nair?” → ranked list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962656"/>
            <a:ext cx="347472" cy="347472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29443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research gaps exist?” → missing domains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529584"/>
            <a:ext cx="347472" cy="347472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35112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“Generate collaboration email” → human confirmation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4142232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6F3C8B-8D1A-8747-76F3-68A37EAD6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47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5BC51-42FE-F982-147D-134D4739B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041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19F976-C3E0-0726-F082-96E2D7279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90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6588" y="14630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5188" y="1691640"/>
            <a:ext cx="502920" cy="502920"/>
          </a:xfrm>
          <a:prstGeom prst="ellipse">
            <a:avLst/>
          </a:prstGeom>
          <a:solidFill>
            <a:srgbClr val="2F6FED"/>
          </a:solidFill>
          <a:ln/>
        </p:spPr>
      </p:sp>
      <p:sp>
        <p:nvSpPr>
          <p:cNvPr id="6" name="Text 4"/>
          <p:cNvSpPr/>
          <p:nvPr/>
        </p:nvSpPr>
        <p:spPr>
          <a:xfrm>
            <a:off x="815188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55268" y="1719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5188" y="23774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mentor and project discovery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faculty availability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grounded in real 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5628" y="14630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64228" y="1691640"/>
            <a:ext cx="502920" cy="502920"/>
          </a:xfrm>
          <a:prstGeom prst="ellipse">
            <a:avLst/>
          </a:prstGeom>
          <a:solidFill>
            <a:srgbClr val="12294B"/>
          </a:solidFill>
          <a:ln/>
        </p:spPr>
      </p:sp>
      <p:sp>
        <p:nvSpPr>
          <p:cNvPr id="11" name="Text 9"/>
          <p:cNvSpPr/>
          <p:nvPr/>
        </p:nvSpPr>
        <p:spPr>
          <a:xfrm>
            <a:off x="4564228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04308" y="1719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4228" y="23774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trend-tracking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collaborator suggestions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into research gaps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4668" y="146304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3268" y="1691640"/>
            <a:ext cx="502920" cy="502920"/>
          </a:xfrm>
          <a:prstGeom prst="ellipse">
            <a:avLst/>
          </a:prstGeom>
          <a:solidFill>
            <a:srgbClr val="1D8A5A"/>
          </a:solidFill>
          <a:ln/>
        </p:spPr>
      </p:sp>
      <p:sp>
        <p:nvSpPr>
          <p:cNvPr id="16" name="Text 14"/>
          <p:cNvSpPr/>
          <p:nvPr/>
        </p:nvSpPr>
        <p:spPr>
          <a:xfrm>
            <a:off x="8313268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53348" y="1719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Universities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13268" y="237744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faculty capacity utilization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positioning in new fields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recommendation trail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463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Comparison 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578608"/>
            <a:ext cx="457200" cy="457200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Student-Side Skill Gap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538728"/>
            <a:ext cx="457200" cy="457200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832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Roadmaps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498848"/>
            <a:ext cx="457200" cy="457200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3434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Recommendations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618488"/>
            <a:ext cx="457200" cy="457200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1463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Recommendations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4231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2578608"/>
            <a:ext cx="457200" cy="457200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5160" y="242316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Autonomous AI Research Assistant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33832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3538728"/>
            <a:ext cx="457200" cy="457200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33832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Matching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43434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D9E2F1"/>
            </a:solidFill>
            <a:prstDash val="solid"/>
          </a:ln>
          <a:effectLst>
            <a:outerShdw blurRad="127000" dist="38100" dir="5400000" algn="bl" rotWithShape="0">
              <a:srgbClr val="0B1B33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55080" y="4498848"/>
            <a:ext cx="457200" cy="457200"/>
          </a:xfrm>
          <a:prstGeom prst="ellipse">
            <a:avLst/>
          </a:prstGeom>
          <a:solidFill>
            <a:srgbClr val="B9770E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43434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404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097280"/>
            <a:ext cx="1097280" cy="73152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1280160" y="1097280"/>
            <a:ext cx="548640" cy="118872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2560320" y="1828800"/>
            <a:ext cx="365760" cy="118872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286000"/>
            <a:ext cx="1280160" cy="731520"/>
          </a:xfrm>
          <a:prstGeom prst="line">
            <a:avLst/>
          </a:prstGeom>
          <a:noFill/>
          <a:ln w="15875">
            <a:solidFill>
              <a:srgbClr val="3A5A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1024128"/>
            <a:ext cx="146304" cy="146304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7" name="Shape 5"/>
          <p:cNvSpPr/>
          <p:nvPr/>
        </p:nvSpPr>
        <p:spPr>
          <a:xfrm>
            <a:off x="2852928" y="1755648"/>
            <a:ext cx="146304" cy="146304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2212848"/>
            <a:ext cx="146304" cy="146304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9" name="Shape 7"/>
          <p:cNvSpPr/>
          <p:nvPr/>
        </p:nvSpPr>
        <p:spPr>
          <a:xfrm>
            <a:off x="2487168" y="2944368"/>
            <a:ext cx="146304" cy="146304"/>
          </a:xfrm>
          <a:prstGeom prst="ellipse">
            <a:avLst/>
          </a:prstGeom>
          <a:solidFill>
            <a:srgbClr val="5479C7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ResearchSphere</a:t>
            </a:r>
            <a:r>
              <a:rPr lang="en-US" sz="1200" dirty="0">
                <a:solidFill>
                  <a:srgbClr val="7C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— AI-Powered Research Matching Agent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901</Words>
  <Application>Microsoft Office PowerPoint</Application>
  <PresentationFormat>Widescreen</PresentationFormat>
  <Paragraphs>267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ResearchCompass — AI-Powered Research Matching Agent</dc:title>
  <dc:subject>PptxGenJS Presentation</dc:subject>
  <dc:creator>ResearchCompass Team</dc:creator>
  <cp:lastModifiedBy>Akshaya Allam</cp:lastModifiedBy>
  <cp:revision>3</cp:revision>
  <dcterms:created xsi:type="dcterms:W3CDTF">2026-07-05T02:20:13Z</dcterms:created>
  <dcterms:modified xsi:type="dcterms:W3CDTF">2026-07-05T03:14:46Z</dcterms:modified>
</cp:coreProperties>
</file>